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Spectral SemiBold"/>
      <p:regular r:id="rId16"/>
      <p:bold r:id="rId17"/>
      <p:italic r:id="rId18"/>
      <p:boldItalic r:id="rId19"/>
    </p:embeddedFont>
    <p:embeddedFont>
      <p:font typeface="Shadows Into Light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9qbzqbhUDRcCx5nW1uPmGa/ix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hadowsIntoLigh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pectralSemiBold-bold.fntdata"/><Relationship Id="rId16" Type="http://schemas.openxmlformats.org/officeDocument/2006/relationships/font" Target="fonts/Spectral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pectral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Spectral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7053c06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9a7053c061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a7053c06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9a7053c061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a7053c06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9a7053c06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26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image" Target="../media/image6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4060" y="-1778318"/>
            <a:ext cx="13081353" cy="12843510"/>
          </a:xfrm>
          <a:custGeom>
            <a:rect b="b" l="l" r="r" t="t"/>
            <a:pathLst>
              <a:path extrusionOk="0" h="12843510" w="13081353">
                <a:moveTo>
                  <a:pt x="0" y="0"/>
                </a:moveTo>
                <a:lnTo>
                  <a:pt x="13081353" y="0"/>
                </a:lnTo>
                <a:lnTo>
                  <a:pt x="13081353" y="12843511"/>
                </a:lnTo>
                <a:lnTo>
                  <a:pt x="0" y="12843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208469" y="5986944"/>
            <a:ext cx="2423690" cy="2955720"/>
          </a:xfrm>
          <a:custGeom>
            <a:rect b="b" l="l" r="r" t="t"/>
            <a:pathLst>
              <a:path extrusionOk="0" h="2955720" w="2423690">
                <a:moveTo>
                  <a:pt x="0" y="0"/>
                </a:moveTo>
                <a:lnTo>
                  <a:pt x="2423690" y="0"/>
                </a:lnTo>
                <a:lnTo>
                  <a:pt x="2423690" y="2955720"/>
                </a:lnTo>
                <a:lnTo>
                  <a:pt x="0" y="295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-260654">
            <a:off x="439749" y="1952551"/>
            <a:ext cx="2817723" cy="2869903"/>
          </a:xfrm>
          <a:custGeom>
            <a:rect b="b" l="l" r="r" t="t"/>
            <a:pathLst>
              <a:path extrusionOk="0" h="2869903" w="2817723">
                <a:moveTo>
                  <a:pt x="0" y="0"/>
                </a:moveTo>
                <a:lnTo>
                  <a:pt x="2817723" y="0"/>
                </a:lnTo>
                <a:lnTo>
                  <a:pt x="2817723" y="2869903"/>
                </a:lnTo>
                <a:lnTo>
                  <a:pt x="0" y="2869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flipH="1">
            <a:off x="15029746" y="839433"/>
            <a:ext cx="3082336" cy="2975855"/>
          </a:xfrm>
          <a:custGeom>
            <a:rect b="b" l="l" r="r" t="t"/>
            <a:pathLst>
              <a:path extrusionOk="0" h="2975855" w="3082336">
                <a:moveTo>
                  <a:pt x="3082336" y="0"/>
                </a:moveTo>
                <a:lnTo>
                  <a:pt x="0" y="0"/>
                </a:lnTo>
                <a:lnTo>
                  <a:pt x="0" y="2975855"/>
                </a:lnTo>
                <a:lnTo>
                  <a:pt x="3082336" y="2975855"/>
                </a:lnTo>
                <a:lnTo>
                  <a:pt x="3082336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289561" y="6520319"/>
            <a:ext cx="3118100" cy="3129480"/>
          </a:xfrm>
          <a:custGeom>
            <a:rect b="b" l="l" r="r" t="t"/>
            <a:pathLst>
              <a:path extrusionOk="0" h="3129480" w="3118100">
                <a:moveTo>
                  <a:pt x="0" y="0"/>
                </a:moveTo>
                <a:lnTo>
                  <a:pt x="3118100" y="0"/>
                </a:lnTo>
                <a:lnTo>
                  <a:pt x="3118100" y="3129480"/>
                </a:lnTo>
                <a:lnTo>
                  <a:pt x="0" y="3129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9039126" y="4643438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720816" y="2349901"/>
            <a:ext cx="10846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0"/>
              <a:buFont typeface="Arial"/>
              <a:buNone/>
            </a:pPr>
            <a:r>
              <a:rPr b="0" i="0" lang="en-US" sz="182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VaxZk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3102547" y="1092596"/>
            <a:ext cx="1404555" cy="1514716"/>
          </a:xfrm>
          <a:custGeom>
            <a:rect b="b" l="l" r="r" t="t"/>
            <a:pathLst>
              <a:path extrusionOk="0" h="1514716" w="1404555">
                <a:moveTo>
                  <a:pt x="0" y="0"/>
                </a:moveTo>
                <a:lnTo>
                  <a:pt x="1404554" y="0"/>
                </a:lnTo>
                <a:lnTo>
                  <a:pt x="1404554" y="1514716"/>
                </a:lnTo>
                <a:lnTo>
                  <a:pt x="0" y="15147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4182348" y="7332829"/>
            <a:ext cx="1073436" cy="1157627"/>
          </a:xfrm>
          <a:custGeom>
            <a:rect b="b" l="l" r="r" t="t"/>
            <a:pathLst>
              <a:path extrusionOk="0" h="1157627" w="1073436">
                <a:moveTo>
                  <a:pt x="0" y="0"/>
                </a:moveTo>
                <a:lnTo>
                  <a:pt x="1073436" y="0"/>
                </a:lnTo>
                <a:lnTo>
                  <a:pt x="1073436" y="1157627"/>
                </a:lnTo>
                <a:lnTo>
                  <a:pt x="0" y="1157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4068835" y="5219400"/>
            <a:ext cx="10150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Privacy-First Vaccine Credentials on the Midnight Network</a:t>
            </a:r>
            <a:endParaRPr b="0" i="0" sz="800" u="none" cap="none" strike="noStrike">
              <a:solidFill>
                <a:srgbClr val="000000"/>
              </a:solidFill>
              <a:latin typeface="Spectral SemiBold"/>
              <a:ea typeface="Spectral SemiBold"/>
              <a:cs typeface="Spectral SemiBold"/>
              <a:sym typeface="Spectral SemiBold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0008650" y="9371825"/>
            <a:ext cx="4147626" cy="4342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by Tartufo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 rot="154594">
            <a:off x="14223428" y="-2770673"/>
            <a:ext cx="5181643" cy="4964956"/>
          </a:xfrm>
          <a:custGeom>
            <a:rect b="b" l="l" r="r" t="t"/>
            <a:pathLst>
              <a:path extrusionOk="0"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 rot="-10192343">
            <a:off x="-1358638" y="8412391"/>
            <a:ext cx="5176405" cy="4959937"/>
          </a:xfrm>
          <a:custGeom>
            <a:rect b="b" l="l" r="r" t="t"/>
            <a:pathLst>
              <a:path extrusionOk="0"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1" name="Google Shape;101;p2"/>
          <p:cNvGrpSpPr/>
          <p:nvPr/>
        </p:nvGrpSpPr>
        <p:grpSpPr>
          <a:xfrm>
            <a:off x="4498150" y="5165000"/>
            <a:ext cx="9616372" cy="4093300"/>
            <a:chOff x="0" y="-47625"/>
            <a:chExt cx="2353205" cy="860425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2353205" cy="812800"/>
            </a:xfrm>
            <a:custGeom>
              <a:rect b="b" l="l" r="r" t="t"/>
              <a:pathLst>
                <a:path extrusionOk="0" h="812800" w="2353205">
                  <a:moveTo>
                    <a:pt x="79717" y="0"/>
                  </a:moveTo>
                  <a:lnTo>
                    <a:pt x="2273489" y="0"/>
                  </a:lnTo>
                  <a:cubicBezTo>
                    <a:pt x="2294631" y="0"/>
                    <a:pt x="2314907" y="8399"/>
                    <a:pt x="2329857" y="23349"/>
                  </a:cubicBezTo>
                  <a:cubicBezTo>
                    <a:pt x="2344807" y="38298"/>
                    <a:pt x="2353205" y="58575"/>
                    <a:pt x="2353205" y="79717"/>
                  </a:cubicBezTo>
                  <a:lnTo>
                    <a:pt x="2353205" y="733083"/>
                  </a:lnTo>
                  <a:cubicBezTo>
                    <a:pt x="2353205" y="777110"/>
                    <a:pt x="2317515" y="812800"/>
                    <a:pt x="2273489" y="812800"/>
                  </a:cubicBezTo>
                  <a:lnTo>
                    <a:pt x="79717" y="812800"/>
                  </a:lnTo>
                  <a:cubicBezTo>
                    <a:pt x="35690" y="812800"/>
                    <a:pt x="0" y="777110"/>
                    <a:pt x="0" y="733083"/>
                  </a:cubicBezTo>
                  <a:lnTo>
                    <a:pt x="0" y="79717"/>
                  </a:lnTo>
                  <a:cubicBezTo>
                    <a:pt x="0" y="35690"/>
                    <a:pt x="35690" y="0"/>
                    <a:pt x="79717" y="0"/>
                  </a:cubicBezTo>
                  <a:close/>
                </a:path>
              </a:pathLst>
            </a:custGeom>
            <a:noFill/>
            <a:ln cap="rnd" cmpd="sng" w="85725">
              <a:solidFill>
                <a:srgbClr val="8ED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47625"/>
              <a:ext cx="2353205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/>
          <p:nvPr/>
        </p:nvSpPr>
        <p:spPr>
          <a:xfrm rot="491452">
            <a:off x="14713129" y="6109374"/>
            <a:ext cx="2313828" cy="3467590"/>
          </a:xfrm>
          <a:custGeom>
            <a:rect b="b" l="l" r="r" t="t"/>
            <a:pathLst>
              <a:path extrusionOk="0" h="3466886" w="2313358">
                <a:moveTo>
                  <a:pt x="0" y="0"/>
                </a:moveTo>
                <a:lnTo>
                  <a:pt x="2313359" y="0"/>
                </a:lnTo>
                <a:lnTo>
                  <a:pt x="2313359" y="3466886"/>
                </a:lnTo>
                <a:lnTo>
                  <a:pt x="0" y="3466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 rot="-679789">
            <a:off x="548814" y="4281501"/>
            <a:ext cx="3058949" cy="2636258"/>
          </a:xfrm>
          <a:custGeom>
            <a:rect b="b" l="l" r="r" t="t"/>
            <a:pathLst>
              <a:path extrusionOk="0" h="2636258" w="3058949">
                <a:moveTo>
                  <a:pt x="0" y="0"/>
                </a:moveTo>
                <a:lnTo>
                  <a:pt x="3058949" y="0"/>
                </a:lnTo>
                <a:lnTo>
                  <a:pt x="3058949" y="2636258"/>
                </a:lnTo>
                <a:lnTo>
                  <a:pt x="0" y="263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 rot="1701542">
            <a:off x="-1064225" y="855775"/>
            <a:ext cx="3542130" cy="1513456"/>
          </a:xfrm>
          <a:custGeom>
            <a:rect b="b" l="l" r="r" t="t"/>
            <a:pathLst>
              <a:path extrusionOk="0"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5"/>
                </a:lnTo>
                <a:lnTo>
                  <a:pt x="0" y="15134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6960805" y="2730646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472400" y="1904575"/>
            <a:ext cx="13183200" cy="1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0" i="0" lang="en-US" sz="68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A traveler at border control forced to hand over a</a:t>
            </a:r>
            <a:r>
              <a:rPr lang="en-US" sz="6800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 </a:t>
            </a:r>
            <a:r>
              <a:rPr b="0" i="0" lang="en-US" sz="68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full vaccination record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460025" y="5660425"/>
            <a:ext cx="77661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Vaccine certificates expose sensitive data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98">
              <a:solidFill>
                <a:srgbClr val="FFFFFF"/>
              </a:solidFill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user control over personal health dat</a:t>
            </a: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3"/>
          <p:cNvGrpSpPr/>
          <p:nvPr/>
        </p:nvGrpSpPr>
        <p:grpSpPr>
          <a:xfrm>
            <a:off x="6244375" y="2406550"/>
            <a:ext cx="8336935" cy="5663145"/>
            <a:chOff x="0" y="-47625"/>
            <a:chExt cx="2353205" cy="860425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2353205" cy="812800"/>
            </a:xfrm>
            <a:custGeom>
              <a:rect b="b" l="l" r="r" t="t"/>
              <a:pathLst>
                <a:path extrusionOk="0" h="812800" w="2353205">
                  <a:moveTo>
                    <a:pt x="79717" y="0"/>
                  </a:moveTo>
                  <a:lnTo>
                    <a:pt x="2273489" y="0"/>
                  </a:lnTo>
                  <a:cubicBezTo>
                    <a:pt x="2294631" y="0"/>
                    <a:pt x="2314907" y="8399"/>
                    <a:pt x="2329857" y="23349"/>
                  </a:cubicBezTo>
                  <a:cubicBezTo>
                    <a:pt x="2344807" y="38298"/>
                    <a:pt x="2353205" y="58575"/>
                    <a:pt x="2353205" y="79717"/>
                  </a:cubicBezTo>
                  <a:lnTo>
                    <a:pt x="2353205" y="733083"/>
                  </a:lnTo>
                  <a:cubicBezTo>
                    <a:pt x="2353205" y="777110"/>
                    <a:pt x="2317515" y="812800"/>
                    <a:pt x="2273489" y="812800"/>
                  </a:cubicBezTo>
                  <a:lnTo>
                    <a:pt x="79717" y="812800"/>
                  </a:lnTo>
                  <a:cubicBezTo>
                    <a:pt x="35690" y="812800"/>
                    <a:pt x="0" y="777110"/>
                    <a:pt x="0" y="733083"/>
                  </a:cubicBezTo>
                  <a:lnTo>
                    <a:pt x="0" y="79717"/>
                  </a:lnTo>
                  <a:cubicBezTo>
                    <a:pt x="0" y="35690"/>
                    <a:pt x="35690" y="0"/>
                    <a:pt x="79717" y="0"/>
                  </a:cubicBezTo>
                  <a:close/>
                </a:path>
              </a:pathLst>
            </a:custGeom>
            <a:noFill/>
            <a:ln cap="rnd" cmpd="sng" w="85725">
              <a:solidFill>
                <a:srgbClr val="8ED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0" y="-47625"/>
              <a:ext cx="2353205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"/>
          <p:cNvSpPr/>
          <p:nvPr/>
        </p:nvSpPr>
        <p:spPr>
          <a:xfrm rot="1905417">
            <a:off x="-3156262" y="-2976394"/>
            <a:ext cx="7942954" cy="7798537"/>
          </a:xfrm>
          <a:custGeom>
            <a:rect b="b" l="l" r="r" t="t"/>
            <a:pathLst>
              <a:path extrusionOk="0" h="7798537" w="7942954">
                <a:moveTo>
                  <a:pt x="0" y="0"/>
                </a:moveTo>
                <a:lnTo>
                  <a:pt x="7942955" y="0"/>
                </a:lnTo>
                <a:lnTo>
                  <a:pt x="7942955" y="7798537"/>
                </a:lnTo>
                <a:lnTo>
                  <a:pt x="0" y="7798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1132334" y="4778184"/>
            <a:ext cx="4084874" cy="4114800"/>
          </a:xfrm>
          <a:custGeom>
            <a:rect b="b" l="l" r="r" t="t"/>
            <a:pathLst>
              <a:path extrusionOk="0" h="4114800" w="4084874">
                <a:moveTo>
                  <a:pt x="0" y="0"/>
                </a:moveTo>
                <a:lnTo>
                  <a:pt x="4084875" y="0"/>
                </a:lnTo>
                <a:lnTo>
                  <a:pt x="408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14581426" y="819837"/>
            <a:ext cx="3373993" cy="2410872"/>
          </a:xfrm>
          <a:custGeom>
            <a:rect b="b" l="l" r="r" t="t"/>
            <a:pathLst>
              <a:path extrusionOk="0" h="2410872" w="3373993">
                <a:moveTo>
                  <a:pt x="0" y="0"/>
                </a:moveTo>
                <a:lnTo>
                  <a:pt x="3373994" y="0"/>
                </a:lnTo>
                <a:lnTo>
                  <a:pt x="3373994" y="2410872"/>
                </a:lnTo>
                <a:lnTo>
                  <a:pt x="0" y="241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/>
          <p:nvPr/>
        </p:nvSpPr>
        <p:spPr>
          <a:xfrm rot="5069823">
            <a:off x="12539057" y="8540570"/>
            <a:ext cx="6781012" cy="6657721"/>
          </a:xfrm>
          <a:custGeom>
            <a:rect b="b" l="l" r="r" t="t"/>
            <a:pathLst>
              <a:path extrusionOk="0"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1"/>
                </a:lnTo>
                <a:lnTo>
                  <a:pt x="0" y="6657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6305712" y="8482017"/>
            <a:ext cx="3085776" cy="544219"/>
          </a:xfrm>
          <a:custGeom>
            <a:rect b="b" l="l" r="r" t="t"/>
            <a:pathLst>
              <a:path extrusionOk="0"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8"/>
                </a:lnTo>
                <a:lnTo>
                  <a:pt x="0" y="544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 txBox="1"/>
          <p:nvPr/>
        </p:nvSpPr>
        <p:spPr>
          <a:xfrm>
            <a:off x="7126335" y="2730646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340778" y="900475"/>
            <a:ext cx="8838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With VaxZk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879038" y="3087776"/>
            <a:ext cx="7310700" cy="4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ZK-proofs on Midnight: </a:t>
            </a:r>
            <a:b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Scan </a:t>
            </a:r>
            <a:r>
              <a:rPr b="1" i="0" lang="en-US" sz="42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Vaccinated: YES 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t/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Never reveal: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Arial"/>
              <a:buNone/>
            </a:pPr>
            <a:r>
              <a:rPr b="0" i="0" lang="en-US" sz="31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Name, Address, …</a:t>
            </a:r>
            <a:endParaRPr b="0" i="0" sz="31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Arial"/>
              <a:buNone/>
            </a:pPr>
            <a:r>
              <a:rPr b="0" i="0" lang="en-US" sz="31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Medical history</a:t>
            </a:r>
            <a:endParaRPr b="0" i="0" sz="31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8"/>
              <a:buFont typeface="Arial"/>
              <a:buNone/>
            </a:pPr>
            <a:r>
              <a:rPr b="0" i="0" lang="en-US" sz="31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Issuer details</a:t>
            </a:r>
            <a:endParaRPr b="0" i="0" sz="31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364907" y="3872615"/>
            <a:ext cx="559682" cy="386118"/>
          </a:xfrm>
          <a:custGeom>
            <a:rect b="b" l="l" r="r" t="t"/>
            <a:pathLst>
              <a:path extrusionOk="0" h="27644" w="45838">
                <a:moveTo>
                  <a:pt x="0" y="14924"/>
                </a:moveTo>
                <a:cubicBezTo>
                  <a:pt x="2350" y="20798"/>
                  <a:pt x="9741" y="30278"/>
                  <a:pt x="14924" y="26650"/>
                </a:cubicBezTo>
                <a:cubicBezTo>
                  <a:pt x="22346" y="21455"/>
                  <a:pt x="27931" y="13964"/>
                  <a:pt x="35178" y="8528"/>
                </a:cubicBezTo>
                <a:cubicBezTo>
                  <a:pt x="38818" y="5798"/>
                  <a:pt x="41288" y="0"/>
                  <a:pt x="45838" y="0"/>
                </a:cubicBezTo>
              </a:path>
            </a:pathLst>
          </a:custGeom>
          <a:noFill/>
          <a:ln cap="flat" cmpd="sng" w="114300">
            <a:solidFill>
              <a:srgbClr val="8ED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191418" y="6424675"/>
            <a:ext cx="559800" cy="5442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7191418" y="7034275"/>
            <a:ext cx="559800" cy="5442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191418" y="5841725"/>
            <a:ext cx="559800" cy="5442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6"/>
          <p:cNvGrpSpPr/>
          <p:nvPr/>
        </p:nvGrpSpPr>
        <p:grpSpPr>
          <a:xfrm>
            <a:off x="5430825" y="2730650"/>
            <a:ext cx="11236319" cy="5165820"/>
            <a:chOff x="0" y="-47625"/>
            <a:chExt cx="2353205" cy="860425"/>
          </a:xfrm>
        </p:grpSpPr>
        <p:sp>
          <p:nvSpPr>
            <p:cNvPr id="134" name="Google Shape;134;p6"/>
            <p:cNvSpPr/>
            <p:nvPr/>
          </p:nvSpPr>
          <p:spPr>
            <a:xfrm>
              <a:off x="0" y="0"/>
              <a:ext cx="2353205" cy="812800"/>
            </a:xfrm>
            <a:custGeom>
              <a:rect b="b" l="l" r="r" t="t"/>
              <a:pathLst>
                <a:path extrusionOk="0" h="812800" w="2353205">
                  <a:moveTo>
                    <a:pt x="79717" y="0"/>
                  </a:moveTo>
                  <a:lnTo>
                    <a:pt x="2273489" y="0"/>
                  </a:lnTo>
                  <a:cubicBezTo>
                    <a:pt x="2294631" y="0"/>
                    <a:pt x="2314907" y="8399"/>
                    <a:pt x="2329857" y="23349"/>
                  </a:cubicBezTo>
                  <a:cubicBezTo>
                    <a:pt x="2344807" y="38298"/>
                    <a:pt x="2353205" y="58575"/>
                    <a:pt x="2353205" y="79717"/>
                  </a:cubicBezTo>
                  <a:lnTo>
                    <a:pt x="2353205" y="733083"/>
                  </a:lnTo>
                  <a:cubicBezTo>
                    <a:pt x="2353205" y="777110"/>
                    <a:pt x="2317515" y="812800"/>
                    <a:pt x="2273489" y="812800"/>
                  </a:cubicBezTo>
                  <a:lnTo>
                    <a:pt x="79717" y="812800"/>
                  </a:lnTo>
                  <a:cubicBezTo>
                    <a:pt x="35690" y="812800"/>
                    <a:pt x="0" y="777110"/>
                    <a:pt x="0" y="733083"/>
                  </a:cubicBezTo>
                  <a:lnTo>
                    <a:pt x="0" y="79717"/>
                  </a:lnTo>
                  <a:cubicBezTo>
                    <a:pt x="0" y="35690"/>
                    <a:pt x="35690" y="0"/>
                    <a:pt x="79717" y="0"/>
                  </a:cubicBezTo>
                  <a:close/>
                </a:path>
              </a:pathLst>
            </a:custGeom>
            <a:noFill/>
            <a:ln cap="rnd" cmpd="sng" w="104175">
              <a:solidFill>
                <a:srgbClr val="8ED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100" lIns="111100" spcFirstLastPara="1" rIns="111100" wrap="square" tIns="111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"/>
            <p:cNvSpPr txBox="1"/>
            <p:nvPr/>
          </p:nvSpPr>
          <p:spPr>
            <a:xfrm>
              <a:off x="0" y="-47625"/>
              <a:ext cx="23532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725" lIns="61725" spcFirstLastPara="1" rIns="61725" wrap="square" tIns="617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8"/>
                <a:buFont typeface="Arial"/>
                <a:buNone/>
              </a:pPr>
              <a:r>
                <a:t/>
              </a:r>
              <a:endParaRPr b="0" i="0" sz="21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6"/>
          <p:cNvSpPr/>
          <p:nvPr/>
        </p:nvSpPr>
        <p:spPr>
          <a:xfrm rot="1905417">
            <a:off x="-3156262" y="-2976394"/>
            <a:ext cx="7942954" cy="7798537"/>
          </a:xfrm>
          <a:custGeom>
            <a:rect b="b" l="l" r="r" t="t"/>
            <a:pathLst>
              <a:path extrusionOk="0" h="7798537" w="7942954">
                <a:moveTo>
                  <a:pt x="0" y="0"/>
                </a:moveTo>
                <a:lnTo>
                  <a:pt x="7942955" y="0"/>
                </a:lnTo>
                <a:lnTo>
                  <a:pt x="7942955" y="7798537"/>
                </a:lnTo>
                <a:lnTo>
                  <a:pt x="0" y="7798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6"/>
          <p:cNvSpPr/>
          <p:nvPr/>
        </p:nvSpPr>
        <p:spPr>
          <a:xfrm rot="5069823">
            <a:off x="12539057" y="8540570"/>
            <a:ext cx="6781012" cy="6657721"/>
          </a:xfrm>
          <a:custGeom>
            <a:rect b="b" l="l" r="r" t="t"/>
            <a:pathLst>
              <a:path extrusionOk="0"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1"/>
                </a:lnTo>
                <a:lnTo>
                  <a:pt x="0" y="6657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6"/>
          <p:cNvSpPr/>
          <p:nvPr/>
        </p:nvSpPr>
        <p:spPr>
          <a:xfrm>
            <a:off x="5442441" y="8455367"/>
            <a:ext cx="3085776" cy="544219"/>
          </a:xfrm>
          <a:custGeom>
            <a:rect b="b" l="l" r="r" t="t"/>
            <a:pathLst>
              <a:path extrusionOk="0"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8"/>
                </a:lnTo>
                <a:lnTo>
                  <a:pt x="0" y="544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6"/>
          <p:cNvSpPr/>
          <p:nvPr/>
        </p:nvSpPr>
        <p:spPr>
          <a:xfrm>
            <a:off x="717085" y="6149764"/>
            <a:ext cx="3853233" cy="3261782"/>
          </a:xfrm>
          <a:custGeom>
            <a:rect b="b" l="l" r="r" t="t"/>
            <a:pathLst>
              <a:path extrusionOk="0" h="4546037" w="4892994">
                <a:moveTo>
                  <a:pt x="0" y="0"/>
                </a:moveTo>
                <a:lnTo>
                  <a:pt x="4892995" y="0"/>
                </a:lnTo>
                <a:lnTo>
                  <a:pt x="4892995" y="4546036"/>
                </a:lnTo>
                <a:lnTo>
                  <a:pt x="0" y="4546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6"/>
          <p:cNvSpPr/>
          <p:nvPr/>
        </p:nvSpPr>
        <p:spPr>
          <a:xfrm>
            <a:off x="14924293" y="0"/>
            <a:ext cx="3620913" cy="2192298"/>
          </a:xfrm>
          <a:custGeom>
            <a:rect b="b" l="l" r="r" t="t"/>
            <a:pathLst>
              <a:path extrusionOk="0" h="2192298" w="3620913">
                <a:moveTo>
                  <a:pt x="0" y="0"/>
                </a:moveTo>
                <a:lnTo>
                  <a:pt x="3620913" y="0"/>
                </a:lnTo>
                <a:lnTo>
                  <a:pt x="3620913" y="2192298"/>
                </a:lnTo>
                <a:lnTo>
                  <a:pt x="0" y="21922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6"/>
          <p:cNvSpPr txBox="1"/>
          <p:nvPr/>
        </p:nvSpPr>
        <p:spPr>
          <a:xfrm>
            <a:off x="7126335" y="2730646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5247553" y="956725"/>
            <a:ext cx="28380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0"/>
              <a:buFont typeface="Arial"/>
              <a:buNone/>
            </a:pPr>
            <a:r>
              <a:rPr b="0" i="0" lang="en-US" sz="101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How?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6241875" y="3512525"/>
            <a:ext cx="10858200" cy="3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AutoNum type="arabicPeriod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 provider issues credential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AutoNum type="arabicPeriod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stores it in local encrypted private state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AutoNum type="arabicPeriod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generates zero-knowledge proof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AutoNum type="arabicPeriod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Verifier checks proof on-chain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t/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Trustless verification &amp; Zero data exposure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 rot="5072765">
            <a:off x="9577858" y="-5463929"/>
            <a:ext cx="6777790" cy="6654558"/>
          </a:xfrm>
          <a:custGeom>
            <a:rect b="b" l="l" r="r" t="t"/>
            <a:pathLst>
              <a:path extrusionOk="0"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0"/>
                </a:lnTo>
                <a:lnTo>
                  <a:pt x="0" y="6657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 txBox="1"/>
          <p:nvPr/>
        </p:nvSpPr>
        <p:spPr>
          <a:xfrm>
            <a:off x="6537784" y="2730646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91719" y="303794"/>
            <a:ext cx="8838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Roles: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 rot="-1002778">
            <a:off x="-1111505" y="1103329"/>
            <a:ext cx="3541178" cy="1177825"/>
          </a:xfrm>
          <a:custGeom>
            <a:rect b="b" l="l" r="r" t="t"/>
            <a:pathLst>
              <a:path extrusionOk="0"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6"/>
                </a:lnTo>
                <a:lnTo>
                  <a:pt x="0" y="151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2" name="Google Shape;152;p4"/>
          <p:cNvGrpSpPr/>
          <p:nvPr/>
        </p:nvGrpSpPr>
        <p:grpSpPr>
          <a:xfrm rot="170937">
            <a:off x="6645435" y="1410936"/>
            <a:ext cx="5220324" cy="8685507"/>
            <a:chOff x="8496848" y="1083468"/>
            <a:chExt cx="5220658" cy="8686064"/>
          </a:xfrm>
        </p:grpSpPr>
        <p:grpSp>
          <p:nvGrpSpPr>
            <p:cNvPr id="153" name="Google Shape;153;p4"/>
            <p:cNvGrpSpPr/>
            <p:nvPr/>
          </p:nvGrpSpPr>
          <p:grpSpPr>
            <a:xfrm rot="-1240">
              <a:off x="8498414" y="1084409"/>
              <a:ext cx="5217526" cy="8684183"/>
              <a:chOff x="0" y="-47625"/>
              <a:chExt cx="2353205" cy="860425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23775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2000" lIns="132000" spcFirstLastPara="1" rIns="132000" wrap="square" tIns="132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73350" lIns="73350" spcFirstLastPara="1" rIns="73350" wrap="square" tIns="7335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99"/>
                  <a:buFont typeface="Arial"/>
                  <a:buNone/>
                </a:pPr>
                <a:r>
                  <a:t/>
                </a:r>
                <a:endParaRPr b="0" i="0" sz="259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56" name="Google Shape;156;p4" title="vaxzk-issuers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1">
              <a:off x="8782350" y="1771999"/>
              <a:ext cx="4578900" cy="78018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4"/>
          <p:cNvGrpSpPr/>
          <p:nvPr/>
        </p:nvGrpSpPr>
        <p:grpSpPr>
          <a:xfrm>
            <a:off x="-31375" y="1290580"/>
            <a:ext cx="6398063" cy="9556935"/>
            <a:chOff x="-86927" y="1345094"/>
            <a:chExt cx="6398063" cy="9556935"/>
          </a:xfrm>
        </p:grpSpPr>
        <p:grpSp>
          <p:nvGrpSpPr>
            <p:cNvPr id="158" name="Google Shape;158;p4"/>
            <p:cNvGrpSpPr/>
            <p:nvPr/>
          </p:nvGrpSpPr>
          <p:grpSpPr>
            <a:xfrm rot="-439809">
              <a:off x="462627" y="1646543"/>
              <a:ext cx="5298954" cy="8954037"/>
              <a:chOff x="0" y="-47625"/>
              <a:chExt cx="2353205" cy="860425"/>
            </a:xfrm>
          </p:grpSpPr>
          <p:sp>
            <p:nvSpPr>
              <p:cNvPr id="159" name="Google Shape;159;p4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23775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2000" lIns="132000" spcFirstLastPara="1" rIns="132000" wrap="square" tIns="132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 txBox="1"/>
              <p:nvPr/>
            </p:nvSpPr>
            <p:spPr>
              <a:xfrm>
                <a:off x="0" y="-47625"/>
                <a:ext cx="2353205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73350" lIns="73350" spcFirstLastPara="1" rIns="73350" wrap="square" tIns="7335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99"/>
                  <a:buFont typeface="Arial"/>
                  <a:buNone/>
                </a:pPr>
                <a:r>
                  <a:t/>
                </a:r>
                <a:endParaRPr b="0" i="0" sz="259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1" name="Google Shape;161;p4" title="vaxzk-vaccines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442777">
              <a:off x="780263" y="2396041"/>
              <a:ext cx="4707596" cy="79953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4"/>
          <p:cNvGrpSpPr/>
          <p:nvPr/>
        </p:nvGrpSpPr>
        <p:grpSpPr>
          <a:xfrm rot="-147178">
            <a:off x="12428670" y="1393428"/>
            <a:ext cx="4950611" cy="8301226"/>
            <a:chOff x="11324949" y="859913"/>
            <a:chExt cx="4950530" cy="8301090"/>
          </a:xfrm>
        </p:grpSpPr>
        <p:grpSp>
          <p:nvGrpSpPr>
            <p:cNvPr id="163" name="Google Shape;163;p4"/>
            <p:cNvGrpSpPr/>
            <p:nvPr/>
          </p:nvGrpSpPr>
          <p:grpSpPr>
            <a:xfrm rot="-24308">
              <a:off x="11354114" y="877106"/>
              <a:ext cx="4892200" cy="8266705"/>
              <a:chOff x="0" y="-47625"/>
              <a:chExt cx="2353205" cy="860425"/>
            </a:xfrm>
          </p:grpSpPr>
          <p:sp>
            <p:nvSpPr>
              <p:cNvPr id="164" name="Google Shape;164;p4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14275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875" lIns="121875" spcFirstLastPara="1" rIns="121875" wrap="square" tIns="121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4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725" lIns="67725" spcFirstLastPara="1" rIns="67725" wrap="square" tIns="6772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99"/>
                  <a:buFont typeface="Arial"/>
                  <a:buNone/>
                </a:pPr>
                <a:r>
                  <a:t/>
                </a:r>
                <a:endParaRPr b="0" i="0" sz="239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6" name="Google Shape;166;p4" title="vaxzk-stats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555213" y="1553147"/>
              <a:ext cx="4485227" cy="737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" name="Google Shape;167;p4"/>
          <p:cNvSpPr/>
          <p:nvPr/>
        </p:nvSpPr>
        <p:spPr>
          <a:xfrm rot="-1828368">
            <a:off x="15275145" y="9265798"/>
            <a:ext cx="3088032" cy="544617"/>
          </a:xfrm>
          <a:custGeom>
            <a:rect b="b" l="l" r="r" t="t"/>
            <a:pathLst>
              <a:path extrusionOk="0"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7053c061_0_30"/>
          <p:cNvSpPr/>
          <p:nvPr/>
        </p:nvSpPr>
        <p:spPr>
          <a:xfrm rot="-3775335">
            <a:off x="-3972987" y="7654353"/>
            <a:ext cx="6778045" cy="6654808"/>
          </a:xfrm>
          <a:custGeom>
            <a:rect b="b" l="l" r="r" t="t"/>
            <a:pathLst>
              <a:path extrusionOk="0"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0"/>
                </a:lnTo>
                <a:lnTo>
                  <a:pt x="0" y="6657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g39a7053c061_0_30"/>
          <p:cNvSpPr txBox="1"/>
          <p:nvPr/>
        </p:nvSpPr>
        <p:spPr>
          <a:xfrm>
            <a:off x="6537784" y="2730646"/>
            <a:ext cx="209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9a7053c061_0_30"/>
          <p:cNvSpPr txBox="1"/>
          <p:nvPr/>
        </p:nvSpPr>
        <p:spPr>
          <a:xfrm>
            <a:off x="778271" y="463696"/>
            <a:ext cx="8838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Roles: Verifier</a:t>
            </a:r>
            <a:endParaRPr b="0" i="0" sz="9000" u="none" cap="none" strike="noStrike">
              <a:solidFill>
                <a:srgbClr val="FFFFFF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75" name="Google Shape;175;g39a7053c061_0_30"/>
          <p:cNvSpPr/>
          <p:nvPr/>
        </p:nvSpPr>
        <p:spPr>
          <a:xfrm rot="737299">
            <a:off x="-829328" y="279784"/>
            <a:ext cx="2746079" cy="1118352"/>
          </a:xfrm>
          <a:custGeom>
            <a:rect b="b" l="l" r="r" t="t"/>
            <a:pathLst>
              <a:path extrusionOk="0"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6"/>
                </a:lnTo>
                <a:lnTo>
                  <a:pt x="0" y="151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g39a7053c061_0_30"/>
          <p:cNvSpPr/>
          <p:nvPr/>
        </p:nvSpPr>
        <p:spPr>
          <a:xfrm rot="4584910">
            <a:off x="14588947" y="6938362"/>
            <a:ext cx="2819105" cy="2871311"/>
          </a:xfrm>
          <a:custGeom>
            <a:rect b="b" l="l" r="r" t="t"/>
            <a:pathLst>
              <a:path extrusionOk="0" h="2869903" w="2817723">
                <a:moveTo>
                  <a:pt x="0" y="0"/>
                </a:moveTo>
                <a:lnTo>
                  <a:pt x="2817723" y="0"/>
                </a:lnTo>
                <a:lnTo>
                  <a:pt x="2817723" y="2869903"/>
                </a:lnTo>
                <a:lnTo>
                  <a:pt x="0" y="2869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7" name="Google Shape;177;g39a7053c061_0_30"/>
          <p:cNvGrpSpPr/>
          <p:nvPr/>
        </p:nvGrpSpPr>
        <p:grpSpPr>
          <a:xfrm rot="-186080">
            <a:off x="2674943" y="1823737"/>
            <a:ext cx="5704081" cy="9331452"/>
            <a:chOff x="2728608" y="1716543"/>
            <a:chExt cx="5704284" cy="9331783"/>
          </a:xfrm>
        </p:grpSpPr>
        <p:grpSp>
          <p:nvGrpSpPr>
            <p:cNvPr id="178" name="Google Shape;178;g39a7053c061_0_30"/>
            <p:cNvGrpSpPr/>
            <p:nvPr/>
          </p:nvGrpSpPr>
          <p:grpSpPr>
            <a:xfrm rot="-24245">
              <a:off x="2761305" y="1736312"/>
              <a:ext cx="5638890" cy="9292246"/>
              <a:chOff x="0" y="-47625"/>
              <a:chExt cx="2353205" cy="860425"/>
            </a:xfrm>
          </p:grpSpPr>
          <p:sp>
            <p:nvSpPr>
              <p:cNvPr id="179" name="Google Shape;179;g39a7053c061_0_30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31725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475" lIns="140475" spcFirstLastPara="1" rIns="140475" wrap="square" tIns="140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39a7053c061_0_30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78075" lIns="78075" spcFirstLastPara="1" rIns="78075" wrap="square" tIns="7807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66"/>
                  <a:buFont typeface="Arial"/>
                  <a:buNone/>
                </a:pPr>
                <a:r>
                  <a:t/>
                </a:r>
                <a:endParaRPr b="0" i="0" sz="276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81" name="Google Shape;181;g39a7053c061_0_30" title="vaxzk-proof-reqs-2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20218" y="2479659"/>
              <a:ext cx="5094875" cy="83826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g39a7053c061_0_30"/>
          <p:cNvGrpSpPr/>
          <p:nvPr/>
        </p:nvGrpSpPr>
        <p:grpSpPr>
          <a:xfrm rot="232572">
            <a:off x="9839649" y="77581"/>
            <a:ext cx="6280071" cy="10448557"/>
            <a:chOff x="8944442" y="-114854"/>
            <a:chExt cx="6280149" cy="10448687"/>
          </a:xfrm>
        </p:grpSpPr>
        <p:grpSp>
          <p:nvGrpSpPr>
            <p:cNvPr id="183" name="Google Shape;183;g39a7053c061_0_30"/>
            <p:cNvGrpSpPr/>
            <p:nvPr/>
          </p:nvGrpSpPr>
          <p:grpSpPr>
            <a:xfrm rot="-1289">
              <a:off x="8946400" y="-113678"/>
              <a:ext cx="6276233" cy="10446334"/>
              <a:chOff x="0" y="-47625"/>
              <a:chExt cx="2353205" cy="860425"/>
            </a:xfrm>
          </p:grpSpPr>
          <p:sp>
            <p:nvSpPr>
              <p:cNvPr id="184" name="Google Shape;184;g39a7053c061_0_30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48900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58800" lIns="158800" spcFirstLastPara="1" rIns="158800" wrap="square" tIns="158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g39a7053c061_0_30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8250" lIns="88250" spcFirstLastPara="1" rIns="88250" wrap="square" tIns="8825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126"/>
                  <a:buFont typeface="Arial"/>
                  <a:buNone/>
                </a:pPr>
                <a:r>
                  <a:t/>
                </a:r>
                <a:endParaRPr b="0" i="0" sz="3126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86" name="Google Shape;186;g39a7053c061_0_30" title="vaxzk-proof-reqs-list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52550" y="741000"/>
              <a:ext cx="5676950" cy="9340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a7053c061_0_54"/>
          <p:cNvSpPr txBox="1"/>
          <p:nvPr/>
        </p:nvSpPr>
        <p:spPr>
          <a:xfrm>
            <a:off x="6537784" y="2730646"/>
            <a:ext cx="209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9a7053c061_0_54"/>
          <p:cNvSpPr txBox="1"/>
          <p:nvPr/>
        </p:nvSpPr>
        <p:spPr>
          <a:xfrm>
            <a:off x="191965" y="303794"/>
            <a:ext cx="8838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Roles: Prover</a:t>
            </a:r>
            <a:endParaRPr b="0" i="0" sz="9000" u="none" cap="none" strike="noStrike">
              <a:solidFill>
                <a:srgbClr val="FFFFFF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93" name="Google Shape;193;g39a7053c061_0_54"/>
          <p:cNvSpPr/>
          <p:nvPr/>
        </p:nvSpPr>
        <p:spPr>
          <a:xfrm>
            <a:off x="14988259" y="2737852"/>
            <a:ext cx="3085776" cy="544219"/>
          </a:xfrm>
          <a:custGeom>
            <a:rect b="b" l="l" r="r" t="t"/>
            <a:pathLst>
              <a:path extrusionOk="0"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g39a7053c061_0_54"/>
          <p:cNvSpPr/>
          <p:nvPr/>
        </p:nvSpPr>
        <p:spPr>
          <a:xfrm rot="-1002778">
            <a:off x="-1797305" y="1103329"/>
            <a:ext cx="3541178" cy="1177825"/>
          </a:xfrm>
          <a:custGeom>
            <a:rect b="b" l="l" r="r" t="t"/>
            <a:pathLst>
              <a:path extrusionOk="0"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6"/>
                </a:lnTo>
                <a:lnTo>
                  <a:pt x="0" y="151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g39a7053c061_0_54"/>
          <p:cNvGrpSpPr/>
          <p:nvPr/>
        </p:nvGrpSpPr>
        <p:grpSpPr>
          <a:xfrm rot="-143035">
            <a:off x="811899" y="1801644"/>
            <a:ext cx="4977868" cy="8050451"/>
            <a:chOff x="576325" y="1287872"/>
            <a:chExt cx="4684525" cy="7576042"/>
          </a:xfrm>
        </p:grpSpPr>
        <p:grpSp>
          <p:nvGrpSpPr>
            <p:cNvPr id="196" name="Google Shape;196;g39a7053c061_0_54"/>
            <p:cNvGrpSpPr/>
            <p:nvPr/>
          </p:nvGrpSpPr>
          <p:grpSpPr>
            <a:xfrm>
              <a:off x="576325" y="1287872"/>
              <a:ext cx="4684525" cy="7576042"/>
              <a:chOff x="0" y="-47625"/>
              <a:chExt cx="2353205" cy="860425"/>
            </a:xfrm>
          </p:grpSpPr>
          <p:sp>
            <p:nvSpPr>
              <p:cNvPr id="197" name="Google Shape;197;g39a7053c061_0_54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91100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7150" lIns="97150" spcFirstLastPara="1" rIns="97150" wrap="square" tIns="971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88"/>
                  <a:buFont typeface="Arial"/>
                  <a:buNone/>
                </a:pPr>
                <a:r>
                  <a:t/>
                </a:r>
                <a:endParaRPr b="0" i="0" sz="148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g39a7053c061_0_54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75" lIns="53975" spcFirstLastPara="1" rIns="53975" wrap="square" tIns="5397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13"/>
                  <a:buFont typeface="Arial"/>
                  <a:buNone/>
                </a:pPr>
                <a:r>
                  <a:t/>
                </a:r>
                <a:endParaRPr b="0" i="0" sz="1913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99" name="Google Shape;199;g39a7053c061_0_54" title="vaxzk-login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8275" y="1917798"/>
              <a:ext cx="4231076" cy="66679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g39a7053c061_0_54"/>
          <p:cNvGrpSpPr/>
          <p:nvPr/>
        </p:nvGrpSpPr>
        <p:grpSpPr>
          <a:xfrm rot="270145">
            <a:off x="6524254" y="1420837"/>
            <a:ext cx="5361863" cy="8991079"/>
            <a:chOff x="5831482" y="1574215"/>
            <a:chExt cx="5361938" cy="8991206"/>
          </a:xfrm>
        </p:grpSpPr>
        <p:grpSp>
          <p:nvGrpSpPr>
            <p:cNvPr id="201" name="Google Shape;201;g39a7053c061_0_54"/>
            <p:cNvGrpSpPr/>
            <p:nvPr/>
          </p:nvGrpSpPr>
          <p:grpSpPr>
            <a:xfrm rot="-24275">
              <a:off x="5863029" y="1592812"/>
              <a:ext cx="5298844" cy="8954013"/>
              <a:chOff x="0" y="-47625"/>
              <a:chExt cx="2353205" cy="860425"/>
            </a:xfrm>
          </p:grpSpPr>
          <p:sp>
            <p:nvSpPr>
              <p:cNvPr id="202" name="Google Shape;202;g39a7053c061_0_54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23775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32000" lIns="132000" spcFirstLastPara="1" rIns="132000" wrap="square" tIns="132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g39a7053c061_0_54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73350" lIns="73350" spcFirstLastPara="1" rIns="73350" wrap="square" tIns="7335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99"/>
                  <a:buFont typeface="Arial"/>
                  <a:buNone/>
                </a:pPr>
                <a:r>
                  <a:t/>
                </a:r>
                <a:endParaRPr b="0" i="0" sz="259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04" name="Google Shape;204;g39a7053c061_0_54" title="vaxzk-submit-proof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96000" y="2310735"/>
              <a:ext cx="4834512" cy="79542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g39a7053c061_0_54"/>
          <p:cNvGrpSpPr/>
          <p:nvPr/>
        </p:nvGrpSpPr>
        <p:grpSpPr>
          <a:xfrm rot="-188120">
            <a:off x="11318782" y="4485183"/>
            <a:ext cx="4872231" cy="8106518"/>
            <a:chOff x="11716654" y="2059731"/>
            <a:chExt cx="4871758" cy="8105732"/>
          </a:xfrm>
        </p:grpSpPr>
        <p:grpSp>
          <p:nvGrpSpPr>
            <p:cNvPr id="206" name="Google Shape;206;g39a7053c061_0_54"/>
            <p:cNvGrpSpPr/>
            <p:nvPr/>
          </p:nvGrpSpPr>
          <p:grpSpPr>
            <a:xfrm rot="-1163">
              <a:off x="11718025" y="2060554"/>
              <a:ext cx="4869017" cy="8104085"/>
              <a:chOff x="0" y="-47625"/>
              <a:chExt cx="2353205" cy="860425"/>
            </a:xfrm>
          </p:grpSpPr>
          <p:sp>
            <p:nvSpPr>
              <p:cNvPr id="207" name="Google Shape;207;g39a7053c061_0_54"/>
              <p:cNvSpPr/>
              <p:nvPr/>
            </p:nvSpPr>
            <p:spPr>
              <a:xfrm>
                <a:off x="0" y="0"/>
                <a:ext cx="2353205" cy="812800"/>
              </a:xfrm>
              <a:custGeom>
                <a:rect b="b" l="l" r="r" t="t"/>
                <a:pathLst>
                  <a:path extrusionOk="0" h="812800" w="2353205">
                    <a:moveTo>
                      <a:pt x="79717" y="0"/>
                    </a:moveTo>
                    <a:lnTo>
                      <a:pt x="2273489" y="0"/>
                    </a:lnTo>
                    <a:cubicBezTo>
                      <a:pt x="2294631" y="0"/>
                      <a:pt x="2314907" y="8399"/>
                      <a:pt x="2329857" y="23349"/>
                    </a:cubicBezTo>
                    <a:cubicBezTo>
                      <a:pt x="2344807" y="38298"/>
                      <a:pt x="2353205" y="58575"/>
                      <a:pt x="2353205" y="79717"/>
                    </a:cubicBezTo>
                    <a:lnTo>
                      <a:pt x="2353205" y="733083"/>
                    </a:lnTo>
                    <a:cubicBezTo>
                      <a:pt x="2353205" y="777110"/>
                      <a:pt x="2317515" y="812800"/>
                      <a:pt x="2273489" y="812800"/>
                    </a:cubicBezTo>
                    <a:lnTo>
                      <a:pt x="79717" y="812800"/>
                    </a:lnTo>
                    <a:cubicBezTo>
                      <a:pt x="35690" y="812800"/>
                      <a:pt x="0" y="777110"/>
                      <a:pt x="0" y="733083"/>
                    </a:cubicBezTo>
                    <a:lnTo>
                      <a:pt x="0" y="79717"/>
                    </a:lnTo>
                    <a:cubicBezTo>
                      <a:pt x="0" y="35690"/>
                      <a:pt x="35690" y="0"/>
                      <a:pt x="79717" y="0"/>
                    </a:cubicBezTo>
                    <a:close/>
                  </a:path>
                </a:pathLst>
              </a:custGeom>
              <a:noFill/>
              <a:ln cap="rnd" cmpd="sng" w="115500">
                <a:solidFill>
                  <a:srgbClr val="8ED2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3200" lIns="123200" spcFirstLastPara="1" rIns="123200" wrap="square" tIns="123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g39a7053c061_0_54"/>
              <p:cNvSpPr txBox="1"/>
              <p:nvPr/>
            </p:nvSpPr>
            <p:spPr>
              <a:xfrm>
                <a:off x="0" y="-47625"/>
                <a:ext cx="2353200" cy="8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8475" lIns="68475" spcFirstLastPara="1" rIns="68475" wrap="square" tIns="68475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25"/>
                  <a:buFont typeface="Arial"/>
                  <a:buNone/>
                </a:pPr>
                <a:r>
                  <a:t/>
                </a:r>
                <a:endParaRPr b="0" i="0" sz="242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09" name="Google Shape;209;g39a7053c061_0_54" title="vaxzk-proof-summitted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983101" y="2765175"/>
              <a:ext cx="4339211" cy="7139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g39a7053c061_0_54"/>
          <p:cNvSpPr/>
          <p:nvPr/>
        </p:nvSpPr>
        <p:spPr>
          <a:xfrm>
            <a:off x="14186202" y="315866"/>
            <a:ext cx="1624633" cy="1603955"/>
          </a:xfrm>
          <a:custGeom>
            <a:rect b="b" l="l" r="r" t="t"/>
            <a:pathLst>
              <a:path extrusionOk="0" h="1603955" w="1624633">
                <a:moveTo>
                  <a:pt x="0" y="0"/>
                </a:moveTo>
                <a:lnTo>
                  <a:pt x="1624632" y="0"/>
                </a:lnTo>
                <a:lnTo>
                  <a:pt x="1624632" y="1603955"/>
                </a:lnTo>
                <a:lnTo>
                  <a:pt x="0" y="160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13369747" y="-1652716"/>
            <a:ext cx="5176405" cy="4959937"/>
          </a:xfrm>
          <a:custGeom>
            <a:rect b="b" l="l" r="r" t="t"/>
            <a:pathLst>
              <a:path extrusionOk="0"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 rot="-10192343">
            <a:off x="-1358638" y="8412391"/>
            <a:ext cx="5176405" cy="4959937"/>
          </a:xfrm>
          <a:custGeom>
            <a:rect b="b" l="l" r="r" t="t"/>
            <a:pathLst>
              <a:path extrusionOk="0"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8"/>
          <p:cNvSpPr/>
          <p:nvPr/>
        </p:nvSpPr>
        <p:spPr>
          <a:xfrm flipH="1" rot="973212">
            <a:off x="14458551" y="6448023"/>
            <a:ext cx="3277039" cy="3307170"/>
          </a:xfrm>
          <a:custGeom>
            <a:rect b="b" l="l" r="r" t="t"/>
            <a:pathLst>
              <a:path extrusionOk="0" h="3814058" w="3814058">
                <a:moveTo>
                  <a:pt x="3814058" y="0"/>
                </a:moveTo>
                <a:lnTo>
                  <a:pt x="0" y="0"/>
                </a:lnTo>
                <a:lnTo>
                  <a:pt x="0" y="3814058"/>
                </a:lnTo>
                <a:lnTo>
                  <a:pt x="3814058" y="3814058"/>
                </a:lnTo>
                <a:lnTo>
                  <a:pt x="381405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 txBox="1"/>
          <p:nvPr/>
        </p:nvSpPr>
        <p:spPr>
          <a:xfrm>
            <a:off x="6960805" y="2730646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2587407" y="1066375"/>
            <a:ext cx="9678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Real-World Use Cases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8" title="VaxZk_Passpor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706913">
            <a:off x="-437327" y="2507417"/>
            <a:ext cx="5582374" cy="697796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5109700" y="4063975"/>
            <a:ext cx="83940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Workplace compliance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Venues enforce health policies 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Visa applications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Cruises, Airlines &amp; Tourism Operators v</a:t>
            </a:r>
            <a:r>
              <a:rPr b="0" i="0" lang="en-US" sz="35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erify travel requirements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t/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…all without becoming data custodians !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8"/>
          <p:cNvGrpSpPr/>
          <p:nvPr/>
        </p:nvGrpSpPr>
        <p:grpSpPr>
          <a:xfrm>
            <a:off x="4518699" y="3322250"/>
            <a:ext cx="9376816" cy="5792897"/>
            <a:chOff x="0" y="-47625"/>
            <a:chExt cx="2353205" cy="860425"/>
          </a:xfrm>
        </p:grpSpPr>
        <p:sp>
          <p:nvSpPr>
            <p:cNvPr id="223" name="Google Shape;223;p8"/>
            <p:cNvSpPr/>
            <p:nvPr/>
          </p:nvSpPr>
          <p:spPr>
            <a:xfrm>
              <a:off x="0" y="0"/>
              <a:ext cx="2353205" cy="812800"/>
            </a:xfrm>
            <a:custGeom>
              <a:rect b="b" l="l" r="r" t="t"/>
              <a:pathLst>
                <a:path extrusionOk="0" h="812800" w="2353205">
                  <a:moveTo>
                    <a:pt x="79717" y="0"/>
                  </a:moveTo>
                  <a:lnTo>
                    <a:pt x="2273489" y="0"/>
                  </a:lnTo>
                  <a:cubicBezTo>
                    <a:pt x="2294631" y="0"/>
                    <a:pt x="2314907" y="8399"/>
                    <a:pt x="2329857" y="23349"/>
                  </a:cubicBezTo>
                  <a:cubicBezTo>
                    <a:pt x="2344807" y="38298"/>
                    <a:pt x="2353205" y="58575"/>
                    <a:pt x="2353205" y="79717"/>
                  </a:cubicBezTo>
                  <a:lnTo>
                    <a:pt x="2353205" y="733083"/>
                  </a:lnTo>
                  <a:cubicBezTo>
                    <a:pt x="2353205" y="777110"/>
                    <a:pt x="2317515" y="812800"/>
                    <a:pt x="2273489" y="812800"/>
                  </a:cubicBezTo>
                  <a:lnTo>
                    <a:pt x="79717" y="812800"/>
                  </a:lnTo>
                  <a:cubicBezTo>
                    <a:pt x="35690" y="812800"/>
                    <a:pt x="0" y="777110"/>
                    <a:pt x="0" y="733083"/>
                  </a:cubicBezTo>
                  <a:lnTo>
                    <a:pt x="0" y="79717"/>
                  </a:lnTo>
                  <a:cubicBezTo>
                    <a:pt x="0" y="35690"/>
                    <a:pt x="35690" y="0"/>
                    <a:pt x="79717" y="0"/>
                  </a:cubicBezTo>
                  <a:close/>
                </a:path>
              </a:pathLst>
            </a:custGeom>
            <a:noFill/>
            <a:ln cap="rnd" cmpd="sng" w="118525">
              <a:solidFill>
                <a:srgbClr val="8ED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400" lIns="126400" spcFirstLastPara="1" rIns="126400" wrap="square" tIns="126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0" y="-47625"/>
              <a:ext cx="2353205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0225" lIns="70225" spcFirstLastPara="1" rIns="70225" wrap="square" tIns="702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g39a7053c061_0_2"/>
          <p:cNvGrpSpPr/>
          <p:nvPr/>
        </p:nvGrpSpPr>
        <p:grpSpPr>
          <a:xfrm>
            <a:off x="1083075" y="4796550"/>
            <a:ext cx="12012876" cy="4392470"/>
            <a:chOff x="0" y="-47625"/>
            <a:chExt cx="2353205" cy="860425"/>
          </a:xfrm>
        </p:grpSpPr>
        <p:sp>
          <p:nvSpPr>
            <p:cNvPr id="230" name="Google Shape;230;g39a7053c061_0_2"/>
            <p:cNvSpPr/>
            <p:nvPr/>
          </p:nvSpPr>
          <p:spPr>
            <a:xfrm>
              <a:off x="0" y="0"/>
              <a:ext cx="2353205" cy="812800"/>
            </a:xfrm>
            <a:custGeom>
              <a:rect b="b" l="l" r="r" t="t"/>
              <a:pathLst>
                <a:path extrusionOk="0" h="812800" w="2353205">
                  <a:moveTo>
                    <a:pt x="79717" y="0"/>
                  </a:moveTo>
                  <a:lnTo>
                    <a:pt x="2273489" y="0"/>
                  </a:lnTo>
                  <a:cubicBezTo>
                    <a:pt x="2294631" y="0"/>
                    <a:pt x="2314907" y="8399"/>
                    <a:pt x="2329857" y="23349"/>
                  </a:cubicBezTo>
                  <a:cubicBezTo>
                    <a:pt x="2344807" y="38298"/>
                    <a:pt x="2353205" y="58575"/>
                    <a:pt x="2353205" y="79717"/>
                  </a:cubicBezTo>
                  <a:lnTo>
                    <a:pt x="2353205" y="733083"/>
                  </a:lnTo>
                  <a:cubicBezTo>
                    <a:pt x="2353205" y="777110"/>
                    <a:pt x="2317515" y="812800"/>
                    <a:pt x="2273489" y="812800"/>
                  </a:cubicBezTo>
                  <a:lnTo>
                    <a:pt x="79717" y="812800"/>
                  </a:lnTo>
                  <a:cubicBezTo>
                    <a:pt x="35690" y="812800"/>
                    <a:pt x="0" y="777110"/>
                    <a:pt x="0" y="733083"/>
                  </a:cubicBezTo>
                  <a:lnTo>
                    <a:pt x="0" y="79717"/>
                  </a:lnTo>
                  <a:cubicBezTo>
                    <a:pt x="0" y="35690"/>
                    <a:pt x="35690" y="0"/>
                    <a:pt x="79717" y="0"/>
                  </a:cubicBezTo>
                  <a:close/>
                </a:path>
              </a:pathLst>
            </a:custGeom>
            <a:noFill/>
            <a:ln cap="rnd" cmpd="sng" w="115250">
              <a:solidFill>
                <a:srgbClr val="8ED2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900" lIns="122900" spcFirstLastPara="1" rIns="122900" wrap="square" tIns="122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9a7053c061_0_2"/>
            <p:cNvSpPr txBox="1"/>
            <p:nvPr/>
          </p:nvSpPr>
          <p:spPr>
            <a:xfrm>
              <a:off x="0" y="-47625"/>
              <a:ext cx="23532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300" lIns="68300" spcFirstLastPara="1" rIns="68300" wrap="square" tIns="683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0"/>
                <a:buFont typeface="Arial"/>
                <a:buNone/>
              </a:pPr>
              <a:r>
                <a:t/>
              </a:r>
              <a:endParaRPr b="0" i="0" sz="24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9a7053c061_0_2"/>
          <p:cNvSpPr/>
          <p:nvPr/>
        </p:nvSpPr>
        <p:spPr>
          <a:xfrm rot="5072765">
            <a:off x="7977658" y="-4778129"/>
            <a:ext cx="6777790" cy="6654558"/>
          </a:xfrm>
          <a:custGeom>
            <a:rect b="b" l="l" r="r" t="t"/>
            <a:pathLst>
              <a:path extrusionOk="0"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0"/>
                </a:lnTo>
                <a:lnTo>
                  <a:pt x="0" y="6657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g39a7053c061_0_2"/>
          <p:cNvSpPr/>
          <p:nvPr/>
        </p:nvSpPr>
        <p:spPr>
          <a:xfrm>
            <a:off x="14321149" y="986891"/>
            <a:ext cx="2916827" cy="3487511"/>
          </a:xfrm>
          <a:custGeom>
            <a:rect b="b" l="l" r="r" t="t"/>
            <a:pathLst>
              <a:path extrusionOk="0" h="3487511" w="2916827">
                <a:moveTo>
                  <a:pt x="0" y="0"/>
                </a:moveTo>
                <a:lnTo>
                  <a:pt x="2916827" y="0"/>
                </a:lnTo>
                <a:lnTo>
                  <a:pt x="2916827" y="3487511"/>
                </a:lnTo>
                <a:lnTo>
                  <a:pt x="0" y="3487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g39a7053c061_0_2"/>
          <p:cNvSpPr/>
          <p:nvPr/>
        </p:nvSpPr>
        <p:spPr>
          <a:xfrm>
            <a:off x="3925852" y="986891"/>
            <a:ext cx="1624633" cy="1603955"/>
          </a:xfrm>
          <a:custGeom>
            <a:rect b="b" l="l" r="r" t="t"/>
            <a:pathLst>
              <a:path extrusionOk="0" h="1603955" w="1624633">
                <a:moveTo>
                  <a:pt x="0" y="0"/>
                </a:moveTo>
                <a:lnTo>
                  <a:pt x="1624632" y="0"/>
                </a:lnTo>
                <a:lnTo>
                  <a:pt x="1624632" y="1603955"/>
                </a:lnTo>
                <a:lnTo>
                  <a:pt x="0" y="160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g39a7053c061_0_2"/>
          <p:cNvSpPr txBox="1"/>
          <p:nvPr/>
        </p:nvSpPr>
        <p:spPr>
          <a:xfrm>
            <a:off x="6537784" y="2730646"/>
            <a:ext cx="209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9a7053c061_0_2"/>
          <p:cNvSpPr txBox="1"/>
          <p:nvPr/>
        </p:nvSpPr>
        <p:spPr>
          <a:xfrm>
            <a:off x="1083076" y="2929525"/>
            <a:ext cx="11640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Built on Midnight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9a7053c061_0_2"/>
          <p:cNvSpPr txBox="1"/>
          <p:nvPr/>
        </p:nvSpPr>
        <p:spPr>
          <a:xfrm>
            <a:off x="1847025" y="5517901"/>
            <a:ext cx="108759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Zero-knowledge proofs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Selective disclosure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0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8"/>
              <a:buFont typeface="Arial"/>
              <a:buChar char="●"/>
            </a:pPr>
            <a:r>
              <a:rPr b="0" i="0" lang="en-US" sz="35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 state + public verification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t/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98"/>
              <a:buFont typeface="Arial"/>
              <a:buNone/>
            </a:pPr>
            <a:r>
              <a:rPr b="1" i="1" lang="en-US" sz="36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Verification that respects privacy by design.</a:t>
            </a:r>
            <a:endParaRPr b="1" i="1" sz="36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9a7053c061_0_2"/>
          <p:cNvSpPr/>
          <p:nvPr/>
        </p:nvSpPr>
        <p:spPr>
          <a:xfrm rot="-1828368">
            <a:off x="14238863" y="8146498"/>
            <a:ext cx="3088032" cy="544617"/>
          </a:xfrm>
          <a:custGeom>
            <a:rect b="b" l="l" r="r" t="t"/>
            <a:pathLst>
              <a:path extrusionOk="0"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g39a7053c061_0_2"/>
          <p:cNvSpPr/>
          <p:nvPr/>
        </p:nvSpPr>
        <p:spPr>
          <a:xfrm rot="1701538">
            <a:off x="-1064230" y="750439"/>
            <a:ext cx="3542174" cy="1513475"/>
          </a:xfrm>
          <a:custGeom>
            <a:rect b="b" l="l" r="r" t="t"/>
            <a:pathLst>
              <a:path extrusionOk="0"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6"/>
                </a:lnTo>
                <a:lnTo>
                  <a:pt x="0" y="151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D5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"/>
          <p:cNvSpPr/>
          <p:nvPr/>
        </p:nvSpPr>
        <p:spPr>
          <a:xfrm rot="-6582117">
            <a:off x="-2908078" y="5865561"/>
            <a:ext cx="5182128" cy="4965421"/>
          </a:xfrm>
          <a:custGeom>
            <a:rect b="b" l="l" r="r" t="t"/>
            <a:pathLst>
              <a:path extrusionOk="0"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5"/>
          <p:cNvSpPr txBox="1"/>
          <p:nvPr/>
        </p:nvSpPr>
        <p:spPr>
          <a:xfrm>
            <a:off x="6960805" y="2730646"/>
            <a:ext cx="209748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5"/>
              <a:buFont typeface="Arial"/>
              <a:buNone/>
            </a:pPr>
            <a:r>
              <a:rPr b="0" i="0" lang="en-US" sz="6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1079450" y="2927600"/>
            <a:ext cx="6091200" cy="16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</a:pPr>
            <a:r>
              <a:rPr b="0" i="0" lang="en-US" sz="11200" u="none" cap="none" strike="noStrike">
                <a:solidFill>
                  <a:srgbClr val="FFFFFF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Thank you!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7819177" y="2569874"/>
            <a:ext cx="65613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37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Preprod Demo</a:t>
            </a:r>
            <a:endParaRPr b="0" i="0" sz="37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7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7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7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7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6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36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https://preprod.vaxzk.com.br</a:t>
            </a:r>
            <a:endParaRPr b="0" i="0" sz="36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/>
          <p:nvPr/>
        </p:nvSpPr>
        <p:spPr>
          <a:xfrm rot="1809202">
            <a:off x="14079961" y="1669173"/>
            <a:ext cx="3086904" cy="544418"/>
          </a:xfrm>
          <a:custGeom>
            <a:rect b="b" l="l" r="r" t="t"/>
            <a:pathLst>
              <a:path extrusionOk="0"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5"/>
          <p:cNvSpPr txBox="1"/>
          <p:nvPr/>
        </p:nvSpPr>
        <p:spPr>
          <a:xfrm>
            <a:off x="2970075" y="8044655"/>
            <a:ext cx="51210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8"/>
              <a:buFont typeface="Arial"/>
              <a:buNone/>
            </a:pPr>
            <a:r>
              <a:rPr b="1" i="0" lang="en-US" sz="29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Tartufo Team</a:t>
            </a:r>
            <a:r>
              <a:rPr b="0" i="0" lang="en-US" sz="29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9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89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8"/>
              <a:buFont typeface="Arial"/>
              <a:buChar char="●"/>
            </a:pPr>
            <a:r>
              <a:rPr b="0" i="1" lang="en-US" sz="29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Gabriel Viganotti</a:t>
            </a:r>
            <a:endParaRPr b="0" i="1" sz="29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8973" lvl="0" marL="45720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8"/>
              <a:buFont typeface="Arial"/>
              <a:buChar char="●"/>
            </a:pPr>
            <a:r>
              <a:rPr b="0" i="1" lang="en-US" sz="29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Santos</a:t>
            </a:r>
            <a:endParaRPr b="0" i="1" sz="29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9007151" y="9017850"/>
            <a:ext cx="6091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8"/>
              <a:buFont typeface="Arial"/>
              <a:buNone/>
            </a:pPr>
            <a:r>
              <a:rPr b="0" i="0" lang="en-US" sz="35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github.com/bochaco/vaxzk</a:t>
            </a:r>
            <a:endParaRPr b="0" i="0" sz="35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7727350" y="2160450"/>
            <a:ext cx="6894891" cy="5579872"/>
          </a:xfrm>
          <a:custGeom>
            <a:rect b="b" l="l" r="r" t="t"/>
            <a:pathLst>
              <a:path extrusionOk="0" h="812800" w="2353205">
                <a:moveTo>
                  <a:pt x="79717" y="0"/>
                </a:moveTo>
                <a:lnTo>
                  <a:pt x="2273489" y="0"/>
                </a:lnTo>
                <a:cubicBezTo>
                  <a:pt x="2294631" y="0"/>
                  <a:pt x="2314907" y="8399"/>
                  <a:pt x="2329857" y="23349"/>
                </a:cubicBezTo>
                <a:cubicBezTo>
                  <a:pt x="2344807" y="38298"/>
                  <a:pt x="2353205" y="58575"/>
                  <a:pt x="2353205" y="79717"/>
                </a:cubicBezTo>
                <a:lnTo>
                  <a:pt x="2353205" y="733083"/>
                </a:lnTo>
                <a:cubicBezTo>
                  <a:pt x="2353205" y="777110"/>
                  <a:pt x="2317515" y="812800"/>
                  <a:pt x="2273489" y="812800"/>
                </a:cubicBezTo>
                <a:lnTo>
                  <a:pt x="79717" y="812800"/>
                </a:lnTo>
                <a:cubicBezTo>
                  <a:pt x="35690" y="812800"/>
                  <a:pt x="0" y="777110"/>
                  <a:pt x="0" y="733083"/>
                </a:cubicBezTo>
                <a:lnTo>
                  <a:pt x="0" y="79717"/>
                </a:lnTo>
                <a:cubicBezTo>
                  <a:pt x="0" y="35690"/>
                  <a:pt x="35690" y="0"/>
                  <a:pt x="79717" y="0"/>
                </a:cubicBezTo>
                <a:close/>
              </a:path>
            </a:pathLst>
          </a:custGeom>
          <a:noFill/>
          <a:ln cap="rnd" cmpd="sng" w="85725">
            <a:solidFill>
              <a:srgbClr val="8ED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5" title="vaxzk-q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2572" y="3370966"/>
            <a:ext cx="3101577" cy="310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